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2C5D2B-CEA8-4F25-8978-E04D9C23CDFA}">
  <a:tblStyle styleId="{A42C5D2B-CEA8-4F25-8978-E04D9C23CDF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aab1d673c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caab1d673c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caab1d673c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aab1d673c_2_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caab1d673c_2_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caab1d673c_2_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aab1d673c_2_8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caab1d673c_2_8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caab1d673c_2_8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aab1d673c_2_1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aab1d673c_2_1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caab1d673c_2_1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aab1d673c_2_1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caab1d673c_2_1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caab1d673c_2_1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aab1d673c_2_19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caab1d673c_2_19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caab1d673c_2_19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aab1d673c_2_2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caab1d673c_2_23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caab1d673c_2_23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caab1d673c_2_26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caab1d673c_2_26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caab1d673c_2_26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caab1d673c_2_30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caab1d673c_2_30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caab1d673c_2_30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caab1d673c_2_3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caab1d673c_2_3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caab1d673c_2_3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aab1d673c_2_3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caab1d673c_2_36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caab1d673c_2_36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caab1d673c_2_4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3caab1d673c_2_4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caab1d673c_2_4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caab1d673c_2_4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3caab1d673c_2_43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caab1d673c_2_43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caab1d673c_2_48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g3caab1d673c_2_48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caab1d673c_2_48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caab1d673c_2_5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g3caab1d673c_2_5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caab1d673c_2_5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11" Type="http://schemas.openxmlformats.org/officeDocument/2006/relationships/image" Target="../media/image10.png"/><Relationship Id="rId10" Type="http://schemas.openxmlformats.org/officeDocument/2006/relationships/image" Target="../media/image4.png"/><Relationship Id="rId12" Type="http://schemas.openxmlformats.org/officeDocument/2006/relationships/image" Target="../media/image7.png"/><Relationship Id="rId9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8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2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Relationship Id="rId4" Type="http://schemas.openxmlformats.org/officeDocument/2006/relationships/image" Target="../media/image17.jpg"/><Relationship Id="rId5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jpg"/><Relationship Id="rId4" Type="http://schemas.openxmlformats.org/officeDocument/2006/relationships/image" Target="../media/image2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D1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4960" y="548640"/>
            <a:ext cx="310896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/>
          <p:nvPr/>
        </p:nvSpPr>
        <p:spPr>
          <a:xfrm>
            <a:off x="5577840" y="731520"/>
            <a:ext cx="27432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>
              <a:alpha val="12156"/>
            </a:srgbClr>
          </a:solidFill>
          <a:ln cap="flat" cmpd="sng" w="12700">
            <a:solidFill>
              <a:srgbClr val="00C853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320040" y="73152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ENISOLAR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320040" y="1554480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Application de Planification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de Missions de Drones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320040" y="2560320"/>
            <a:ext cx="2926080" cy="36576"/>
          </a:xfrm>
          <a:prstGeom prst="rect">
            <a:avLst/>
          </a:prstGeom>
          <a:solidFill>
            <a:srgbClr val="00C853">
              <a:alpha val="60000"/>
            </a:srgbClr>
          </a:solidFill>
          <a:ln cap="flat" cmpd="sng" w="12700">
            <a:solidFill>
              <a:srgbClr val="00C853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320040" y="269748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Version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1600200" y="269748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1.0.0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320040" y="30815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1600200" y="3081528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Février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320040" y="346557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Plateforme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600200" y="3465576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Ionic / Angular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20040" y="3849624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Serveur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1600200" y="384962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PHP / MySQL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20040" y="4617720"/>
            <a:ext cx="1371600" cy="274320"/>
          </a:xfrm>
          <a:prstGeom prst="rect">
            <a:avLst/>
          </a:prstGeom>
          <a:solidFill>
            <a:srgbClr val="8B0000"/>
          </a:solidFill>
          <a:ln cap="flat" cmpd="sng" w="127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320040" y="4617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CONFIDENTIEL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v1.0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>
              <a:alpha val="70196"/>
            </a:srgbClr>
          </a:solidFill>
          <a:ln cap="flat" cmpd="sng" w="12700">
            <a:solidFill>
              <a:srgbClr val="0D1F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ENISOLAR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Documentation Technique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Sommaire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Vue d'ensemble de la documentation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274320" y="1051560"/>
            <a:ext cx="4160520" cy="658368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384048" y="1179576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384048" y="11795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1795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1307592" y="1143000"/>
            <a:ext cx="30449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&amp; Objectif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4526280" y="1051560"/>
            <a:ext cx="4160520" cy="658368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4636008" y="1179576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4636008" y="11795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640" y="11795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/>
          <p:nvPr/>
        </p:nvSpPr>
        <p:spPr>
          <a:xfrm>
            <a:off x="5559552" y="1143000"/>
            <a:ext cx="30449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Système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274320" y="1783080"/>
            <a:ext cx="4160520" cy="658368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384048" y="1911096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384048" y="191109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191109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>
            <a:off x="1307592" y="1874520"/>
            <a:ext cx="30449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Authentification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526280" y="1783080"/>
            <a:ext cx="4160520" cy="658368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4636008" y="1911096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4636008" y="191109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0640" y="191109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/>
          <p:nvPr/>
        </p:nvSpPr>
        <p:spPr>
          <a:xfrm>
            <a:off x="5559552" y="1874520"/>
            <a:ext cx="30449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Planificateur de Carte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274320" y="2514600"/>
            <a:ext cx="4160520" cy="658368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384048" y="2642616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384048" y="264261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8680" y="264261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/>
          <p:nvPr/>
        </p:nvSpPr>
        <p:spPr>
          <a:xfrm>
            <a:off x="1307592" y="2606040"/>
            <a:ext cx="30449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Paramètres de Vol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4526280" y="2514600"/>
            <a:ext cx="4160520" cy="658368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4636008" y="2642616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4636008" y="264261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20640" y="264261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/>
          <p:nvPr/>
        </p:nvSpPr>
        <p:spPr>
          <a:xfrm>
            <a:off x="5559552" y="2606040"/>
            <a:ext cx="30449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Gestion des Missions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274320" y="3246120"/>
            <a:ext cx="4160520" cy="658368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384048" y="3374136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384048" y="337413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" name="Google Shape;12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8680" y="33741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1307592" y="3337560"/>
            <a:ext cx="30449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Données de Mission &amp; Drone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4526280" y="3246120"/>
            <a:ext cx="4160520" cy="658368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4636008" y="3374136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4636008" y="337413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20640" y="33741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/>
          <p:nvPr/>
        </p:nvSpPr>
        <p:spPr>
          <a:xfrm>
            <a:off x="5559552" y="3337560"/>
            <a:ext cx="30449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Profil &amp; Sécurité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274320" y="3977640"/>
            <a:ext cx="4160520" cy="658368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384048" y="4105656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384048" y="41056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8680" y="41056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/>
          <p:nvPr/>
        </p:nvSpPr>
        <p:spPr>
          <a:xfrm>
            <a:off x="1307592" y="4069080"/>
            <a:ext cx="30449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Backend &amp; Base de Données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526280" y="3977640"/>
            <a:ext cx="4160520" cy="658368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36008" y="4105656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4636008" y="41056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120640" y="41056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/>
          <p:nvPr/>
        </p:nvSpPr>
        <p:spPr>
          <a:xfrm>
            <a:off x="5559552" y="4069080"/>
            <a:ext cx="30449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Algorithme de Trajectoire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>
              <a:alpha val="70196"/>
            </a:srgbClr>
          </a:solidFill>
          <a:ln cap="flat" cmpd="sng" w="12700">
            <a:solidFill>
              <a:srgbClr val="0D1F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01 · Introduction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Documentation Technique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· Introduction &amp; Objectif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274320" y="1005840"/>
            <a:ext cx="4846320" cy="37490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457200" y="109728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Qu'est-ce qu'ENISOLAR 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457200" y="1481328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ENISOLAR est une application mobile professionnelle dédiée à la planification de missions de drones pour le relevé aérien et l'inspection de panneaux solaires.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475488" y="2496312"/>
            <a:ext cx="164592" cy="1645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749808" y="2423160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Dessin de zones de relevé sur carte satellite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475488" y="2907792"/>
            <a:ext cx="164592" cy="1645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749808" y="2834640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Génération automatique de trajectoires de vol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475488" y="3319272"/>
            <a:ext cx="164592" cy="1645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749808" y="3246120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Statistiques en temps réel (superficie, durée, GSD)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75488" y="3730752"/>
            <a:ext cx="164592" cy="1645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749808" y="3657600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Export CSV et liaison Bluetooth vers le drone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475488" y="4142232"/>
            <a:ext cx="164592" cy="1645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749808" y="4069080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Sauvegarde et gestion des missions dans le cloud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1097280"/>
            <a:ext cx="3200400" cy="3200400"/>
          </a:xfrm>
          <a:prstGeom prst="rect">
            <a:avLst/>
          </a:prstGeom>
          <a:noFill/>
          <a:ln>
            <a:noFill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</p:pic>
      <p:sp>
        <p:nvSpPr>
          <p:cNvPr id="169" name="Google Shape;169;p18"/>
          <p:cNvSpPr/>
          <p:nvPr/>
        </p:nvSpPr>
        <p:spPr>
          <a:xfrm>
            <a:off x="5623560" y="1234440"/>
            <a:ext cx="2926080" cy="2926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>
              <a:alpha val="10196"/>
            </a:srgbClr>
          </a:solidFill>
          <a:ln cap="flat" cmpd="sng" w="12700">
            <a:solidFill>
              <a:srgbClr val="00C853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349240" y="4389120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"Planifiez. Volez. Inspectez."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>
              <a:alpha val="70196"/>
            </a:srgbClr>
          </a:solidFill>
          <a:ln cap="flat" cmpd="sng" w="12700">
            <a:solidFill>
              <a:srgbClr val="0D1F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02 · Architecture Système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Documentation Technique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Architecture Système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Pile technologique client-serveur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274320" y="1097280"/>
            <a:ext cx="1600200" cy="256032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274320" y="1097280"/>
            <a:ext cx="1600200" cy="73152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809244" y="1298448"/>
            <a:ext cx="530352" cy="53035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>
              <a:alpha val="25098"/>
            </a:srgbClr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" y="134416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/>
          <p:nvPr/>
        </p:nvSpPr>
        <p:spPr>
          <a:xfrm>
            <a:off x="347472" y="1938528"/>
            <a:ext cx="14538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Mobile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347472" y="2450592"/>
            <a:ext cx="1453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Ionic 6 + Angular 15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1874520" y="2304288"/>
            <a:ext cx="118872" cy="54864"/>
          </a:xfrm>
          <a:prstGeom prst="rect">
            <a:avLst/>
          </a:prstGeom>
          <a:solidFill>
            <a:srgbClr val="00C853">
              <a:alpha val="70196"/>
            </a:srgbClr>
          </a:solidFill>
          <a:ln cap="flat" cmpd="sng" w="12700">
            <a:solidFill>
              <a:srgbClr val="00C853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1993392" y="1097280"/>
            <a:ext cx="1600200" cy="256032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1993392" y="1097280"/>
            <a:ext cx="1600200" cy="7315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2528316" y="1298448"/>
            <a:ext cx="530352" cy="53035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65C0">
              <a:alpha val="25098"/>
            </a:srgbClr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4036" y="134416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/>
          <p:nvPr/>
        </p:nvSpPr>
        <p:spPr>
          <a:xfrm>
            <a:off x="2066544" y="1938528"/>
            <a:ext cx="14538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Carte Satellite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2066544" y="2450592"/>
            <a:ext cx="1453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Google Maps SDK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3593592" y="2304288"/>
            <a:ext cx="118872" cy="54864"/>
          </a:xfrm>
          <a:prstGeom prst="rect">
            <a:avLst/>
          </a:prstGeom>
          <a:solidFill>
            <a:srgbClr val="00C853">
              <a:alpha val="70196"/>
            </a:srgbClr>
          </a:solidFill>
          <a:ln cap="flat" cmpd="sng" w="12700">
            <a:solidFill>
              <a:srgbClr val="00C853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3712464" y="1097280"/>
            <a:ext cx="1600200" cy="256032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3712464" y="1097280"/>
            <a:ext cx="1600200" cy="73152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4247388" y="1298448"/>
            <a:ext cx="530352" cy="53035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6A1B9A">
              <a:alpha val="25098"/>
            </a:srgbClr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3108" y="134416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3785616" y="1938528"/>
            <a:ext cx="14538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REST 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3785616" y="2450592"/>
            <a:ext cx="1453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PHP 8 (PDO) + CORS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5312664" y="2304288"/>
            <a:ext cx="118872" cy="54864"/>
          </a:xfrm>
          <a:prstGeom prst="rect">
            <a:avLst/>
          </a:prstGeom>
          <a:solidFill>
            <a:srgbClr val="00C853">
              <a:alpha val="70196"/>
            </a:srgbClr>
          </a:solidFill>
          <a:ln cap="flat" cmpd="sng" w="12700">
            <a:solidFill>
              <a:srgbClr val="00C853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5431536" y="1097280"/>
            <a:ext cx="1600200" cy="256032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431536" y="1097280"/>
            <a:ext cx="1600200" cy="73152"/>
          </a:xfrm>
          <a:prstGeom prst="rect">
            <a:avLst/>
          </a:prstGeom>
          <a:solidFill>
            <a:srgbClr val="00838F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5966460" y="1298448"/>
            <a:ext cx="530352" cy="53035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838F">
              <a:alpha val="25098"/>
            </a:srgbClr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12180" y="134416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/>
          <p:nvPr/>
        </p:nvSpPr>
        <p:spPr>
          <a:xfrm>
            <a:off x="5504688" y="1938528"/>
            <a:ext cx="14538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de Données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5504688" y="2450592"/>
            <a:ext cx="1453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MySQL 5.7+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7031736" y="2304288"/>
            <a:ext cx="118872" cy="54864"/>
          </a:xfrm>
          <a:prstGeom prst="rect">
            <a:avLst/>
          </a:prstGeom>
          <a:solidFill>
            <a:srgbClr val="00C853">
              <a:alpha val="70196"/>
            </a:srgbClr>
          </a:solidFill>
          <a:ln cap="flat" cmpd="sng" w="12700">
            <a:solidFill>
              <a:srgbClr val="00C853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7150608" y="1097280"/>
            <a:ext cx="1600200" cy="256032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558B2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7150608" y="1097280"/>
            <a:ext cx="1600200" cy="73152"/>
          </a:xfrm>
          <a:prstGeom prst="rect">
            <a:avLst/>
          </a:prstGeom>
          <a:solidFill>
            <a:srgbClr val="558B2F"/>
          </a:solidFill>
          <a:ln cap="flat" cmpd="sng" w="12700">
            <a:solidFill>
              <a:srgbClr val="558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7685532" y="1298448"/>
            <a:ext cx="530352" cy="53035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58B2F">
              <a:alpha val="25098"/>
            </a:srgbClr>
          </a:solidFill>
          <a:ln cap="flat" cmpd="sng" w="12700">
            <a:solidFill>
              <a:srgbClr val="558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4" name="Google Shape;21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31252" y="134416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/>
          <p:nvPr/>
        </p:nvSpPr>
        <p:spPr>
          <a:xfrm>
            <a:off x="7223760" y="1938528"/>
            <a:ext cx="14538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7223760" y="2450592"/>
            <a:ext cx="1453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Bluetooth BLE → Drone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274320" y="3794760"/>
            <a:ext cx="8595360" cy="86868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457200" y="385876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Flux de Données 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1828800" y="3858768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Client → POST/GET JSON → PHP endpoints → PDO → MySQL  ·  Auth par user_id  ·  CORS * (wildcard dev)  ·  Logique de vol calculée 100% côté client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>
              <a:alpha val="70196"/>
            </a:srgbClr>
          </a:solidFill>
          <a:ln cap="flat" cmpd="sng" w="12700">
            <a:solidFill>
              <a:srgbClr val="0D1F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03 · Authentification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Documentation Technique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Authentification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Connexion et inscription sécurisées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2" name="Google Shape;2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960120"/>
            <a:ext cx="1920240" cy="3611880"/>
          </a:xfrm>
          <a:prstGeom prst="rect">
            <a:avLst/>
          </a:prstGeom>
          <a:noFill/>
          <a:ln>
            <a:noFill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</p:pic>
      <p:pic>
        <p:nvPicPr>
          <p:cNvPr descr="preencoded.png" id="233" name="Google Shape;23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1720" y="960120"/>
            <a:ext cx="1920240" cy="3611880"/>
          </a:xfrm>
          <a:prstGeom prst="rect">
            <a:avLst/>
          </a:prstGeom>
          <a:noFill/>
          <a:ln>
            <a:noFill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</p:pic>
      <p:sp>
        <p:nvSpPr>
          <p:cNvPr id="234" name="Google Shape;234;p20"/>
          <p:cNvSpPr/>
          <p:nvPr/>
        </p:nvSpPr>
        <p:spPr>
          <a:xfrm>
            <a:off x="228600" y="44805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Connexion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2331720" y="44805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Inscription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4572000" y="960120"/>
            <a:ext cx="4297680" cy="38862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4681728" y="1133856"/>
            <a:ext cx="54864" cy="347472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4828032" y="107899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Champs Connexion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4828032" y="1316736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E-mail + Mot de passe masqué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4681728" y="1636776"/>
            <a:ext cx="54864" cy="347472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4828032" y="15819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Champs Inscription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4828032" y="1819656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Nom complet · Email · Password · Confirmer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4681728" y="2139696"/>
            <a:ext cx="54864" cy="347472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4828032" y="208483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Sécurité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4828032" y="2322576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bcrypt PASSWORD_DEFAULT côté PHP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4681728" y="2642616"/>
            <a:ext cx="54864" cy="347472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4828032" y="258775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Réponse succès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828032" y="2825496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{ "success": true, "user_id": 42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4681728" y="3145536"/>
            <a:ext cx="54864" cy="347472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4828032" y="309067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Erreurs gérées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4828032" y="3328416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E-mail introuvable · Mauvais mot de passe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4681728" y="3648456"/>
            <a:ext cx="54864" cy="347472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4828032" y="359359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Endpoint register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4828032" y="3831336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POST /register.php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4681728" y="4151376"/>
            <a:ext cx="54864" cy="347472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4828032" y="40965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Endpoint login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4828032" y="4334256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POST /login.php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>
              <a:alpha val="70196"/>
            </a:srgbClr>
          </a:solidFill>
          <a:ln cap="flat" cmpd="sng" w="12700">
            <a:solidFill>
              <a:srgbClr val="0D1F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04 · Planificateur de Carte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Documentation Technique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Planificateur de Carte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Dessin de polygone et génération de trajectoire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0" name="Google Shape;2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960120"/>
            <a:ext cx="1874520" cy="3337560"/>
          </a:xfrm>
          <a:prstGeom prst="rect">
            <a:avLst/>
          </a:prstGeom>
          <a:noFill/>
          <a:ln>
            <a:noFill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</p:pic>
      <p:sp>
        <p:nvSpPr>
          <p:cNvPr id="271" name="Google Shape;271;p21"/>
          <p:cNvSpPr/>
          <p:nvPr/>
        </p:nvSpPr>
        <p:spPr>
          <a:xfrm>
            <a:off x="201168" y="960120"/>
            <a:ext cx="1874520" cy="3337560"/>
          </a:xfrm>
          <a:prstGeom prst="rect">
            <a:avLst/>
          </a:prstGeom>
          <a:solidFill>
            <a:srgbClr val="0A1628">
              <a:alpha val="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201168" y="434340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b="0" i="1" lang="en" sz="8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Carte vide – vue initiale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3" name="Google Shape;27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1256" y="960120"/>
            <a:ext cx="1874520" cy="3337560"/>
          </a:xfrm>
          <a:prstGeom prst="rect">
            <a:avLst/>
          </a:prstGeom>
          <a:noFill/>
          <a:ln>
            <a:noFill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</p:pic>
      <p:sp>
        <p:nvSpPr>
          <p:cNvPr id="274" name="Google Shape;274;p21"/>
          <p:cNvSpPr/>
          <p:nvPr/>
        </p:nvSpPr>
        <p:spPr>
          <a:xfrm>
            <a:off x="3191256" y="960120"/>
            <a:ext cx="1874520" cy="3337560"/>
          </a:xfrm>
          <a:prstGeom prst="rect">
            <a:avLst/>
          </a:prstGeom>
          <a:solidFill>
            <a:srgbClr val="0A1628">
              <a:alpha val="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3191256" y="434340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b="0" i="1" lang="en" sz="8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Polygone dessiné + trajectoire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6181344" y="434340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b="0" i="1" lang="en" sz="8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Angle de grille modifié (15°)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201168" y="4663440"/>
            <a:ext cx="2103120" cy="34747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256032" y="466344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ha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859536" y="466344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Superficie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2359152" y="4663440"/>
            <a:ext cx="2103120" cy="34747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2414016" y="466344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3017520" y="466344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Durée vol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4517136" y="4663440"/>
            <a:ext cx="2103120" cy="34747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4572000" y="466344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wp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5175504" y="466344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Waypoints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6675120" y="4663440"/>
            <a:ext cx="2103120" cy="34747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6729984" y="466344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cm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7333488" y="466344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GSD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21" title="e5d42f6e-3ee7-4145-a727-3edf6014c1b3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7100" y="941825"/>
            <a:ext cx="1817350" cy="3337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>
              <a:alpha val="70196"/>
            </a:srgbClr>
          </a:solidFill>
          <a:ln cap="flat" cmpd="sng" w="12700">
            <a:solidFill>
              <a:srgbClr val="0D1F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05 · Paramètres de Vol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Documentation Technique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· Paramètres de Vol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Configuration complète de la mission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2" name="Google Shape;3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005840"/>
            <a:ext cx="3657600" cy="3794760"/>
          </a:xfrm>
          <a:prstGeom prst="rect">
            <a:avLst/>
          </a:prstGeom>
          <a:noFill/>
          <a:ln>
            <a:noFill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</p:pic>
      <p:sp>
        <p:nvSpPr>
          <p:cNvPr id="303" name="Google Shape;303;p22"/>
          <p:cNvSpPr/>
          <p:nvPr/>
        </p:nvSpPr>
        <p:spPr>
          <a:xfrm>
            <a:off x="4114800" y="1051560"/>
            <a:ext cx="4754880" cy="53035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2"/>
          <p:cNvSpPr/>
          <p:nvPr/>
        </p:nvSpPr>
        <p:spPr>
          <a:xfrm>
            <a:off x="4114800" y="1051560"/>
            <a:ext cx="64008" cy="530352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2"/>
          <p:cNvSpPr/>
          <p:nvPr/>
        </p:nvSpPr>
        <p:spPr>
          <a:xfrm>
            <a:off x="4279392" y="1088136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 de la Mission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4279392" y="1325880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Texte libre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4114800" y="1664208"/>
            <a:ext cx="4754880" cy="53035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2"/>
          <p:cNvSpPr/>
          <p:nvPr/>
        </p:nvSpPr>
        <p:spPr>
          <a:xfrm>
            <a:off x="4114800" y="1664208"/>
            <a:ext cx="64008" cy="530352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2"/>
          <p:cNvSpPr/>
          <p:nvPr/>
        </p:nvSpPr>
        <p:spPr>
          <a:xfrm>
            <a:off x="4279392" y="170078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Altitude (ALT)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4279392" y="1938528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20m → 200m  •  60m par défaut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4114800" y="2276856"/>
            <a:ext cx="4754880" cy="53035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4114800" y="2276856"/>
            <a:ext cx="64008" cy="530352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"/>
          <p:cNvSpPr/>
          <p:nvPr/>
        </p:nvSpPr>
        <p:spPr>
          <a:xfrm>
            <a:off x="4279392" y="231343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Vitesse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4279392" y="2551176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3 → 20 m/s  •  10 m/s par défaut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4114800" y="2889504"/>
            <a:ext cx="4754880" cy="53035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2"/>
          <p:cNvSpPr/>
          <p:nvPr/>
        </p:nvSpPr>
        <p:spPr>
          <a:xfrm>
            <a:off x="4114800" y="2889504"/>
            <a:ext cx="64008" cy="530352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2"/>
          <p:cNvSpPr/>
          <p:nvPr/>
        </p:nvSpPr>
        <p:spPr>
          <a:xfrm>
            <a:off x="4279392" y="292608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Angle de Grille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4279392" y="3163824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0° → 90°  •  0° par défaut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4114800" y="3502152"/>
            <a:ext cx="4754880" cy="53035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2"/>
          <p:cNvSpPr/>
          <p:nvPr/>
        </p:nvSpPr>
        <p:spPr>
          <a:xfrm>
            <a:off x="4114800" y="3502152"/>
            <a:ext cx="64008" cy="530352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2"/>
          <p:cNvSpPr/>
          <p:nvPr/>
        </p:nvSpPr>
        <p:spPr>
          <a:xfrm>
            <a:off x="4279392" y="353872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Recouvrement F/S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4279392" y="377647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Avant 60-95%  •  Latéral 50-90%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4114800" y="4114800"/>
            <a:ext cx="4754880" cy="53035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2"/>
          <p:cNvSpPr/>
          <p:nvPr/>
        </p:nvSpPr>
        <p:spPr>
          <a:xfrm>
            <a:off x="4114800" y="4114800"/>
            <a:ext cx="64008" cy="530352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2"/>
          <p:cNvSpPr/>
          <p:nvPr/>
        </p:nvSpPr>
        <p:spPr>
          <a:xfrm>
            <a:off x="4279392" y="4151376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Modèle Caméra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4279392" y="4389120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DJI Mini 3 Pro (défaut)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>
              <a:alpha val="70196"/>
            </a:srgbClr>
          </a:solidFill>
          <a:ln cap="flat" cmpd="sng" w="12700">
            <a:solidFill>
              <a:srgbClr val="0D1F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3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06 · Gestion des Missions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Documentation Technique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· Gestion des Missions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Liste, recherche et supervision des missions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9" name="Google Shape;3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005840"/>
            <a:ext cx="2194560" cy="3794760"/>
          </a:xfrm>
          <a:prstGeom prst="rect">
            <a:avLst/>
          </a:prstGeom>
          <a:noFill/>
          <a:ln>
            <a:noFill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</p:pic>
      <p:sp>
        <p:nvSpPr>
          <p:cNvPr id="340" name="Google Shape;340;p23"/>
          <p:cNvSpPr/>
          <p:nvPr/>
        </p:nvSpPr>
        <p:spPr>
          <a:xfrm>
            <a:off x="2651760" y="1024128"/>
            <a:ext cx="6217920" cy="4572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2743200" y="1133856"/>
            <a:ext cx="228600" cy="22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3"/>
          <p:cNvSpPr/>
          <p:nvPr/>
        </p:nvSpPr>
        <p:spPr>
          <a:xfrm>
            <a:off x="3063240" y="1042416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Badge Statut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3063240" y="1261872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PRÊT / BROUILLON affiché en vert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2651760" y="1554480"/>
            <a:ext cx="6217920" cy="4572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3"/>
          <p:cNvSpPr/>
          <p:nvPr/>
        </p:nvSpPr>
        <p:spPr>
          <a:xfrm>
            <a:off x="2743200" y="1664208"/>
            <a:ext cx="228600" cy="22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3"/>
          <p:cNvSpPr/>
          <p:nvPr/>
        </p:nvSpPr>
        <p:spPr>
          <a:xfrm>
            <a:off x="3063240" y="1572768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Informations clés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3"/>
          <p:cNvSpPr/>
          <p:nvPr/>
        </p:nvSpPr>
        <p:spPr>
          <a:xfrm>
            <a:off x="3063240" y="1792224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Superficie (ha) · Points · Durée · GSD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2651760" y="2084832"/>
            <a:ext cx="6217920" cy="4572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3"/>
          <p:cNvSpPr/>
          <p:nvPr/>
        </p:nvSpPr>
        <p:spPr>
          <a:xfrm>
            <a:off x="2743200" y="2194560"/>
            <a:ext cx="228600" cy="22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3"/>
          <p:cNvSpPr/>
          <p:nvPr/>
        </p:nvSpPr>
        <p:spPr>
          <a:xfrm>
            <a:off x="3063240" y="210312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 de création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3063240" y="2322576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Affichée sous le nom de la mission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3"/>
          <p:cNvSpPr/>
          <p:nvPr/>
        </p:nvSpPr>
        <p:spPr>
          <a:xfrm>
            <a:off x="2651760" y="2615184"/>
            <a:ext cx="6217920" cy="4572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3"/>
          <p:cNvSpPr/>
          <p:nvPr/>
        </p:nvSpPr>
        <p:spPr>
          <a:xfrm>
            <a:off x="2743200" y="2724912"/>
            <a:ext cx="228600" cy="22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3"/>
          <p:cNvSpPr/>
          <p:nvPr/>
        </p:nvSpPr>
        <p:spPr>
          <a:xfrm>
            <a:off x="3063240" y="263347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Suppression rapide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3063240" y="2852928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Icône poubelle rouge par carte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2651760" y="3145536"/>
            <a:ext cx="6217920" cy="4572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3"/>
          <p:cNvSpPr/>
          <p:nvPr/>
        </p:nvSpPr>
        <p:spPr>
          <a:xfrm>
            <a:off x="2743200" y="3255264"/>
            <a:ext cx="228600" cy="22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3"/>
          <p:cNvSpPr/>
          <p:nvPr/>
        </p:nvSpPr>
        <p:spPr>
          <a:xfrm>
            <a:off x="3063240" y="3163824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Recherche en direct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3063240" y="3383280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Filtrage par nom de mission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2651760" y="3675888"/>
            <a:ext cx="6217920" cy="4572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3"/>
          <p:cNvSpPr/>
          <p:nvPr/>
        </p:nvSpPr>
        <p:spPr>
          <a:xfrm>
            <a:off x="2743200" y="3785616"/>
            <a:ext cx="228600" cy="22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3"/>
          <p:cNvSpPr/>
          <p:nvPr/>
        </p:nvSpPr>
        <p:spPr>
          <a:xfrm>
            <a:off x="3063240" y="3694176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Nouvelle mission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3063240" y="3913632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Bouton flottant + en bas à droite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2651760" y="4206240"/>
            <a:ext cx="6217920" cy="4572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3"/>
          <p:cNvSpPr/>
          <p:nvPr/>
        </p:nvSpPr>
        <p:spPr>
          <a:xfrm>
            <a:off x="2743200" y="4315968"/>
            <a:ext cx="228600" cy="22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3"/>
          <p:cNvSpPr/>
          <p:nvPr/>
        </p:nvSpPr>
        <p:spPr>
          <a:xfrm>
            <a:off x="3063240" y="4224528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Synchronisation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3063240" y="4443984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Sauvegarde automatique en cloud via 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>
              <a:alpha val="70196"/>
            </a:srgbClr>
          </a:solidFill>
          <a:ln cap="flat" cmpd="sng" w="12700">
            <a:solidFill>
              <a:srgbClr val="0D1F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4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07 · Données de Mission &amp; Drone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4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Documentation Technique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· Données de Mission &amp; Liaison Drone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Export CSV et uplink Bluetooth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0" name="Google Shape;38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005840"/>
            <a:ext cx="2194560" cy="3794760"/>
          </a:xfrm>
          <a:prstGeom prst="rect">
            <a:avLst/>
          </a:prstGeom>
          <a:noFill/>
          <a:ln>
            <a:noFill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</p:pic>
      <p:sp>
        <p:nvSpPr>
          <p:cNvPr id="381" name="Google Shape;381;p24"/>
          <p:cNvSpPr/>
          <p:nvPr/>
        </p:nvSpPr>
        <p:spPr>
          <a:xfrm>
            <a:off x="2651760" y="1005840"/>
            <a:ext cx="6217920" cy="19202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4"/>
          <p:cNvSpPr/>
          <p:nvPr/>
        </p:nvSpPr>
        <p:spPr>
          <a:xfrm>
            <a:off x="2788920" y="1078992"/>
            <a:ext cx="5943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Export CSV — Trajectoire de Vol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2788920" y="1408176"/>
            <a:ext cx="5943600" cy="1371600"/>
          </a:xfrm>
          <a:prstGeom prst="rect">
            <a:avLst/>
          </a:prstGeom>
          <a:solidFill>
            <a:srgbClr val="050D1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4"/>
          <p:cNvSpPr/>
          <p:nvPr/>
        </p:nvSpPr>
        <p:spPr>
          <a:xfrm>
            <a:off x="2880360" y="1444752"/>
            <a:ext cx="5760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urier New"/>
                <a:ea typeface="Courier New"/>
                <a:cs typeface="Courier New"/>
                <a:sym typeface="Courier New"/>
              </a:rPr>
              <a:t>order,latitude,longitude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urier New"/>
                <a:ea typeface="Courier New"/>
                <a:cs typeface="Courier New"/>
                <a:sym typeface="Courier New"/>
              </a:rPr>
              <a:t>1,14.2480324,77.4753136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urier New"/>
                <a:ea typeface="Courier New"/>
                <a:cs typeface="Courier New"/>
                <a:sym typeface="Courier New"/>
              </a:rPr>
              <a:t>2,14.2476597,77.4767485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urier New"/>
                <a:ea typeface="Courier New"/>
                <a:cs typeface="Courier New"/>
                <a:sym typeface="Courier New"/>
              </a:rPr>
              <a:t>3,14.2479198,77.4772819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0C853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2651760" y="3017520"/>
            <a:ext cx="6217920" cy="16916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4"/>
          <p:cNvSpPr/>
          <p:nvPr/>
        </p:nvSpPr>
        <p:spPr>
          <a:xfrm>
            <a:off x="2788920" y="3090672"/>
            <a:ext cx="5943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Liaison Drone (Bluetooth BLE)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2788920" y="3456432"/>
            <a:ext cx="1874520" cy="1078992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4"/>
          <p:cNvSpPr/>
          <p:nvPr/>
        </p:nvSpPr>
        <p:spPr>
          <a:xfrm>
            <a:off x="2862072" y="35204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CONNECTER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4"/>
          <p:cNvSpPr/>
          <p:nvPr/>
        </p:nvSpPr>
        <p:spPr>
          <a:xfrm>
            <a:off x="2862072" y="3858768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Scan BLE pour découvrir le drone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4800600" y="3456432"/>
            <a:ext cx="1874520" cy="1078992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4"/>
          <p:cNvSpPr/>
          <p:nvPr/>
        </p:nvSpPr>
        <p:spPr>
          <a:xfrm>
            <a:off x="4873752" y="35204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TÉLÉCHARGER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4873752" y="3858768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Transmission CSV vers le drone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6812280" y="3456432"/>
            <a:ext cx="1874520" cy="1078992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4"/>
          <p:cNvSpPr/>
          <p:nvPr/>
        </p:nvSpPr>
        <p:spPr>
          <a:xfrm>
            <a:off x="6885432" y="35204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0E676"/>
                </a:solidFill>
                <a:latin typeface="Calibri"/>
                <a:ea typeface="Calibri"/>
                <a:cs typeface="Calibri"/>
                <a:sym typeface="Calibri"/>
              </a:rPr>
              <a:t>STATUT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6885432" y="3858768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HORS LIGNE / CONNECTÉ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>
              <a:alpha val="70196"/>
            </a:srgbClr>
          </a:solidFill>
          <a:ln cap="flat" cmpd="sng" w="12700">
            <a:solidFill>
              <a:srgbClr val="0D1F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5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08 · Profil &amp; Sécurité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5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Documentation Technique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5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 · Profil Utilisateur &amp; Sécurité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7" name="Google Shape;4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005840"/>
            <a:ext cx="2194560" cy="3794760"/>
          </a:xfrm>
          <a:prstGeom prst="rect">
            <a:avLst/>
          </a:prstGeom>
          <a:noFill/>
          <a:ln>
            <a:noFill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</p:pic>
      <p:pic>
        <p:nvPicPr>
          <p:cNvPr descr="preencoded.png" id="408" name="Google Shape;40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4600" y="1005840"/>
            <a:ext cx="2194560" cy="3794760"/>
          </a:xfrm>
          <a:prstGeom prst="rect">
            <a:avLst/>
          </a:prstGeom>
          <a:noFill/>
          <a:ln>
            <a:noFill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</p:pic>
      <p:sp>
        <p:nvSpPr>
          <p:cNvPr id="409" name="Google Shape;409;p25"/>
          <p:cNvSpPr/>
          <p:nvPr/>
        </p:nvSpPr>
        <p:spPr>
          <a:xfrm>
            <a:off x="4892040" y="1005840"/>
            <a:ext cx="3977640" cy="178308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5"/>
          <p:cNvSpPr/>
          <p:nvPr/>
        </p:nvSpPr>
        <p:spPr>
          <a:xfrm>
            <a:off x="5029200" y="107899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Profil Utilisateur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5"/>
          <p:cNvSpPr/>
          <p:nvPr/>
        </p:nvSpPr>
        <p:spPr>
          <a:xfrm>
            <a:off x="5047488" y="1435608"/>
            <a:ext cx="146304" cy="14630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5"/>
          <p:cNvSpPr/>
          <p:nvPr/>
        </p:nvSpPr>
        <p:spPr>
          <a:xfrm>
            <a:off x="5285232" y="138988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Nom d'utilisateur &amp; e-mail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5"/>
          <p:cNvSpPr/>
          <p:nvPr/>
        </p:nvSpPr>
        <p:spPr>
          <a:xfrm>
            <a:off x="5047488" y="1746504"/>
            <a:ext cx="146304" cy="14630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5"/>
          <p:cNvSpPr/>
          <p:nvPr/>
        </p:nvSpPr>
        <p:spPr>
          <a:xfrm>
            <a:off x="5285232" y="170078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Date d'inscription (Membre depuis)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5"/>
          <p:cNvSpPr/>
          <p:nvPr/>
        </p:nvSpPr>
        <p:spPr>
          <a:xfrm>
            <a:off x="5047488" y="2057400"/>
            <a:ext cx="146304" cy="14630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5"/>
          <p:cNvSpPr/>
          <p:nvPr/>
        </p:nvSpPr>
        <p:spPr>
          <a:xfrm>
            <a:off x="5285232" y="20116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Changement de mot de passe intégré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5"/>
          <p:cNvSpPr/>
          <p:nvPr/>
        </p:nvSpPr>
        <p:spPr>
          <a:xfrm>
            <a:off x="5047488" y="2368296"/>
            <a:ext cx="146304" cy="14630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5"/>
          <p:cNvSpPr/>
          <p:nvPr/>
        </p:nvSpPr>
        <p:spPr>
          <a:xfrm>
            <a:off x="5285232" y="232257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Déconnexion rapide (icône rouge)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4892040" y="2926080"/>
            <a:ext cx="3977640" cy="18288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5"/>
          <p:cNvSpPr/>
          <p:nvPr/>
        </p:nvSpPr>
        <p:spPr>
          <a:xfrm>
            <a:off x="5029200" y="299923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Sécurité Implémentée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5"/>
          <p:cNvSpPr/>
          <p:nvPr/>
        </p:nvSpPr>
        <p:spPr>
          <a:xfrm>
            <a:off x="5047488" y="3364992"/>
            <a:ext cx="128016" cy="164592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5"/>
          <p:cNvSpPr/>
          <p:nvPr/>
        </p:nvSpPr>
        <p:spPr>
          <a:xfrm>
            <a:off x="5266944" y="3337560"/>
            <a:ext cx="3493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Hachage bcrypt (PASSWORD_DEFAULT)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5"/>
          <p:cNvSpPr/>
          <p:nvPr/>
        </p:nvSpPr>
        <p:spPr>
          <a:xfrm>
            <a:off x="5047488" y="3685032"/>
            <a:ext cx="128016" cy="164592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5"/>
          <p:cNvSpPr/>
          <p:nvPr/>
        </p:nvSpPr>
        <p:spPr>
          <a:xfrm>
            <a:off x="5266944" y="3657600"/>
            <a:ext cx="3493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Requêtes PDO préparées (anti SQL injection)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5"/>
          <p:cNvSpPr/>
          <p:nvPr/>
        </p:nvSpPr>
        <p:spPr>
          <a:xfrm>
            <a:off x="5047488" y="4005072"/>
            <a:ext cx="128016" cy="164592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5"/>
          <p:cNvSpPr/>
          <p:nvPr/>
        </p:nvSpPr>
        <p:spPr>
          <a:xfrm>
            <a:off x="5266944" y="3977640"/>
            <a:ext cx="3493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Validation propriété user_id sur DELETE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5"/>
          <p:cNvSpPr/>
          <p:nvPr/>
        </p:nvSpPr>
        <p:spPr>
          <a:xfrm>
            <a:off x="5047488" y="4325112"/>
            <a:ext cx="128016" cy="164592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5"/>
          <p:cNvSpPr/>
          <p:nvPr/>
        </p:nvSpPr>
        <p:spPr>
          <a:xfrm>
            <a:off x="5266944" y="4297680"/>
            <a:ext cx="3493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Vérification mot de passe actuel avant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>
              <a:alpha val="70196"/>
            </a:srgbClr>
          </a:solidFill>
          <a:ln cap="flat" cmpd="sng" w="12700">
            <a:solidFill>
              <a:srgbClr val="0D1F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6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09 · API Backend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Documentation Technique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6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 · Référence API Backend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6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Endpoints PHP REST — JSON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6"/>
          <p:cNvSpPr/>
          <p:nvPr/>
        </p:nvSpPr>
        <p:spPr>
          <a:xfrm>
            <a:off x="274320" y="914400"/>
            <a:ext cx="8595360" cy="384048"/>
          </a:xfrm>
          <a:prstGeom prst="rect">
            <a:avLst/>
          </a:prstGeom>
          <a:solidFill>
            <a:srgbClr val="050D18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6"/>
          <p:cNvSpPr/>
          <p:nvPr/>
        </p:nvSpPr>
        <p:spPr>
          <a:xfrm>
            <a:off x="411480" y="9144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00E676"/>
                </a:solidFill>
                <a:latin typeface="Courier New"/>
                <a:ea typeface="Courier New"/>
                <a:cs typeface="Courier New"/>
                <a:sym typeface="Courier New"/>
              </a:rPr>
              <a:t>BASE URL : https://fdb1034.awardspace.net/{endpoint}.php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274320" y="1435608"/>
            <a:ext cx="4206240" cy="6858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6"/>
          <p:cNvSpPr/>
          <p:nvPr/>
        </p:nvSpPr>
        <p:spPr>
          <a:xfrm>
            <a:off x="365760" y="1600200"/>
            <a:ext cx="658368" cy="25603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6"/>
          <p:cNvSpPr/>
          <p:nvPr/>
        </p:nvSpPr>
        <p:spPr>
          <a:xfrm>
            <a:off x="365760" y="1600200"/>
            <a:ext cx="658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6"/>
          <p:cNvSpPr/>
          <p:nvPr/>
        </p:nvSpPr>
        <p:spPr>
          <a:xfrm>
            <a:off x="1097280" y="1490472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urier New"/>
              <a:buNone/>
            </a:pPr>
            <a:r>
              <a:rPr b="1" i="0" lang="en" sz="1000" u="none" cap="none" strike="noStrike">
                <a:solidFill>
                  <a:srgbClr val="E8F0FE"/>
                </a:solidFill>
                <a:latin typeface="Courier New"/>
                <a:ea typeface="Courier New"/>
                <a:cs typeface="Courier New"/>
                <a:sym typeface="Courier New"/>
              </a:rPr>
              <a:t>/register.php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1097280" y="178308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Créer un compte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6"/>
          <p:cNvSpPr/>
          <p:nvPr/>
        </p:nvSpPr>
        <p:spPr>
          <a:xfrm>
            <a:off x="4617720" y="1435608"/>
            <a:ext cx="4206240" cy="6858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6"/>
          <p:cNvSpPr/>
          <p:nvPr/>
        </p:nvSpPr>
        <p:spPr>
          <a:xfrm>
            <a:off x="4709160" y="1600200"/>
            <a:ext cx="658368" cy="25603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6"/>
          <p:cNvSpPr/>
          <p:nvPr/>
        </p:nvSpPr>
        <p:spPr>
          <a:xfrm>
            <a:off x="4709160" y="1600200"/>
            <a:ext cx="658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6"/>
          <p:cNvSpPr/>
          <p:nvPr/>
        </p:nvSpPr>
        <p:spPr>
          <a:xfrm>
            <a:off x="5440680" y="1490472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urier New"/>
              <a:buNone/>
            </a:pPr>
            <a:r>
              <a:rPr b="1" i="0" lang="en" sz="1000" u="none" cap="none" strike="noStrike">
                <a:solidFill>
                  <a:srgbClr val="E8F0FE"/>
                </a:solidFill>
                <a:latin typeface="Courier New"/>
                <a:ea typeface="Courier New"/>
                <a:cs typeface="Courier New"/>
                <a:sym typeface="Courier New"/>
              </a:rPr>
              <a:t>/login.php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6"/>
          <p:cNvSpPr/>
          <p:nvPr/>
        </p:nvSpPr>
        <p:spPr>
          <a:xfrm>
            <a:off x="5440680" y="178308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Authentifier → retourne user_id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6"/>
          <p:cNvSpPr/>
          <p:nvPr/>
        </p:nvSpPr>
        <p:spPr>
          <a:xfrm>
            <a:off x="274320" y="2240280"/>
            <a:ext cx="4206240" cy="6858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6"/>
          <p:cNvSpPr/>
          <p:nvPr/>
        </p:nvSpPr>
        <p:spPr>
          <a:xfrm>
            <a:off x="365760" y="2404872"/>
            <a:ext cx="658368" cy="256032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6"/>
          <p:cNvSpPr/>
          <p:nvPr/>
        </p:nvSpPr>
        <p:spPr>
          <a:xfrm>
            <a:off x="365760" y="2404872"/>
            <a:ext cx="658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6"/>
          <p:cNvSpPr/>
          <p:nvPr/>
        </p:nvSpPr>
        <p:spPr>
          <a:xfrm>
            <a:off x="1097280" y="2295144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urier New"/>
              <a:buNone/>
            </a:pPr>
            <a:r>
              <a:rPr b="1" i="0" lang="en" sz="1000" u="none" cap="none" strike="noStrike">
                <a:solidFill>
                  <a:srgbClr val="E8F0FE"/>
                </a:solidFill>
                <a:latin typeface="Courier New"/>
                <a:ea typeface="Courier New"/>
                <a:cs typeface="Courier New"/>
                <a:sym typeface="Courier New"/>
              </a:rPr>
              <a:t>/change_password.php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6"/>
          <p:cNvSpPr/>
          <p:nvPr/>
        </p:nvSpPr>
        <p:spPr>
          <a:xfrm>
            <a:off x="1097280" y="2587752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Modifier le mot de passe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6"/>
          <p:cNvSpPr/>
          <p:nvPr/>
        </p:nvSpPr>
        <p:spPr>
          <a:xfrm>
            <a:off x="4617720" y="2240280"/>
            <a:ext cx="4206240" cy="6858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6"/>
          <p:cNvSpPr/>
          <p:nvPr/>
        </p:nvSpPr>
        <p:spPr>
          <a:xfrm>
            <a:off x="4709160" y="2404872"/>
            <a:ext cx="658368" cy="256032"/>
          </a:xfrm>
          <a:prstGeom prst="rect">
            <a:avLst/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6"/>
          <p:cNvSpPr/>
          <p:nvPr/>
        </p:nvSpPr>
        <p:spPr>
          <a:xfrm>
            <a:off x="4709160" y="2404872"/>
            <a:ext cx="658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6"/>
          <p:cNvSpPr/>
          <p:nvPr/>
        </p:nvSpPr>
        <p:spPr>
          <a:xfrm>
            <a:off x="5440680" y="2295144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urier New"/>
              <a:buNone/>
            </a:pPr>
            <a:r>
              <a:rPr b="1" i="0" lang="en" sz="1000" u="none" cap="none" strike="noStrike">
                <a:solidFill>
                  <a:srgbClr val="E8F0FE"/>
                </a:solidFill>
                <a:latin typeface="Courier New"/>
                <a:ea typeface="Courier New"/>
                <a:cs typeface="Courier New"/>
                <a:sym typeface="Courier New"/>
              </a:rPr>
              <a:t>/get_profile.php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6"/>
          <p:cNvSpPr/>
          <p:nvPr/>
        </p:nvSpPr>
        <p:spPr>
          <a:xfrm>
            <a:off x="5440680" y="2587752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Récupérer profil utilisateur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6"/>
          <p:cNvSpPr/>
          <p:nvPr/>
        </p:nvSpPr>
        <p:spPr>
          <a:xfrm>
            <a:off x="274320" y="3044952"/>
            <a:ext cx="4206240" cy="6858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365760" y="3209544"/>
            <a:ext cx="658368" cy="256032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365760" y="3209544"/>
            <a:ext cx="658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6"/>
          <p:cNvSpPr/>
          <p:nvPr/>
        </p:nvSpPr>
        <p:spPr>
          <a:xfrm>
            <a:off x="1097280" y="3099816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urier New"/>
              <a:buNone/>
            </a:pPr>
            <a:r>
              <a:rPr b="1" i="0" lang="en" sz="1000" u="none" cap="none" strike="noStrike">
                <a:solidFill>
                  <a:srgbClr val="E8F0FE"/>
                </a:solidFill>
                <a:latin typeface="Courier New"/>
                <a:ea typeface="Courier New"/>
                <a:cs typeface="Courier New"/>
                <a:sym typeface="Courier New"/>
              </a:rPr>
              <a:t>/save_mission.php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6"/>
          <p:cNvSpPr/>
          <p:nvPr/>
        </p:nvSpPr>
        <p:spPr>
          <a:xfrm>
            <a:off x="1097280" y="3392424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UPSERT d'une mission complète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6"/>
          <p:cNvSpPr/>
          <p:nvPr/>
        </p:nvSpPr>
        <p:spPr>
          <a:xfrm>
            <a:off x="4617720" y="3044952"/>
            <a:ext cx="4206240" cy="6858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6"/>
          <p:cNvSpPr/>
          <p:nvPr/>
        </p:nvSpPr>
        <p:spPr>
          <a:xfrm>
            <a:off x="4709160" y="3209544"/>
            <a:ext cx="658368" cy="256032"/>
          </a:xfrm>
          <a:prstGeom prst="rect">
            <a:avLst/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6"/>
          <p:cNvSpPr/>
          <p:nvPr/>
        </p:nvSpPr>
        <p:spPr>
          <a:xfrm>
            <a:off x="4709160" y="3209544"/>
            <a:ext cx="658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5440680" y="3099816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urier New"/>
              <a:buNone/>
            </a:pPr>
            <a:r>
              <a:rPr b="1" i="0" lang="en" sz="1000" u="none" cap="none" strike="noStrike">
                <a:solidFill>
                  <a:srgbClr val="E8F0FE"/>
                </a:solidFill>
                <a:latin typeface="Courier New"/>
                <a:ea typeface="Courier New"/>
                <a:cs typeface="Courier New"/>
                <a:sym typeface="Courier New"/>
              </a:rPr>
              <a:t>/get_missions.php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5440680" y="3392424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Lister / récupérer missions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274320" y="3849624"/>
            <a:ext cx="4206240" cy="6858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6"/>
          <p:cNvSpPr/>
          <p:nvPr/>
        </p:nvSpPr>
        <p:spPr>
          <a:xfrm>
            <a:off x="365760" y="4014216"/>
            <a:ext cx="658368" cy="256032"/>
          </a:xfrm>
          <a:prstGeom prst="rect">
            <a:avLst/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6"/>
          <p:cNvSpPr/>
          <p:nvPr/>
        </p:nvSpPr>
        <p:spPr>
          <a:xfrm>
            <a:off x="365760" y="4014216"/>
            <a:ext cx="658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6"/>
          <p:cNvSpPr/>
          <p:nvPr/>
        </p:nvSpPr>
        <p:spPr>
          <a:xfrm>
            <a:off x="1097280" y="390448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urier New"/>
              <a:buNone/>
            </a:pPr>
            <a:r>
              <a:rPr b="1" i="0" lang="en" sz="1000" u="none" cap="none" strike="noStrike">
                <a:solidFill>
                  <a:srgbClr val="E8F0FE"/>
                </a:solidFill>
                <a:latin typeface="Courier New"/>
                <a:ea typeface="Courier New"/>
                <a:cs typeface="Courier New"/>
                <a:sym typeface="Courier New"/>
              </a:rPr>
              <a:t>/get_mission_details.php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1097280" y="4197096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Détails complets d'une mission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4617720" y="3849624"/>
            <a:ext cx="4206240" cy="6858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6"/>
          <p:cNvSpPr/>
          <p:nvPr/>
        </p:nvSpPr>
        <p:spPr>
          <a:xfrm>
            <a:off x="4709160" y="4014216"/>
            <a:ext cx="658368" cy="256032"/>
          </a:xfrm>
          <a:prstGeom prst="rect">
            <a:avLst/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6"/>
          <p:cNvSpPr/>
          <p:nvPr/>
        </p:nvSpPr>
        <p:spPr>
          <a:xfrm>
            <a:off x="4709160" y="4014216"/>
            <a:ext cx="658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5440680" y="390448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urier New"/>
              <a:buNone/>
            </a:pPr>
            <a:r>
              <a:rPr b="1" i="0" lang="en" sz="1000" u="none" cap="none" strike="noStrike">
                <a:solidFill>
                  <a:srgbClr val="E8F0FE"/>
                </a:solidFill>
                <a:latin typeface="Courier New"/>
                <a:ea typeface="Courier New"/>
                <a:cs typeface="Courier New"/>
                <a:sym typeface="Courier New"/>
              </a:rPr>
              <a:t>/delete_mission.php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5440680" y="4197096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Supprimer (vérifie user_id)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>
              <a:alpha val="70196"/>
            </a:srgbClr>
          </a:solidFill>
          <a:ln cap="flat" cmpd="sng" w="12700">
            <a:solidFill>
              <a:srgbClr val="0D1F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7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09 · Base de Données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Documentation Technique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 · Schéma de Base de Données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7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Tables users et missions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7"/>
          <p:cNvSpPr/>
          <p:nvPr/>
        </p:nvSpPr>
        <p:spPr>
          <a:xfrm>
            <a:off x="228600" y="960120"/>
            <a:ext cx="4114800" cy="32004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7"/>
          <p:cNvSpPr/>
          <p:nvPr/>
        </p:nvSpPr>
        <p:spPr>
          <a:xfrm>
            <a:off x="228600" y="960120"/>
            <a:ext cx="4114800" cy="384048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7"/>
          <p:cNvSpPr/>
          <p:nvPr/>
        </p:nvSpPr>
        <p:spPr>
          <a:xfrm>
            <a:off x="320040" y="96012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00E676"/>
                </a:solidFill>
                <a:latin typeface="Courier New"/>
                <a:ea typeface="Courier New"/>
                <a:cs typeface="Courier New"/>
                <a:sym typeface="Courier New"/>
              </a:rPr>
              <a:t>TABLE : 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8" name="Google Shape;498;p27"/>
          <p:cNvGraphicFramePr/>
          <p:nvPr/>
        </p:nvGraphicFramePr>
        <p:xfrm>
          <a:off x="27432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{A42C5D2B-CEA8-4F25-8978-E04D9C23CDFA}</a:tableStyleId>
              </a:tblPr>
              <a:tblGrid>
                <a:gridCol w="1371600"/>
                <a:gridCol w="1143000"/>
                <a:gridCol w="1508750"/>
              </a:tblGrid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853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00C8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Colonne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E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853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00C8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E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853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00C8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Contrainte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E35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900"/>
                        <a:buFont typeface="Courier New"/>
                        <a:buNone/>
                      </a:pPr>
                      <a:r>
                        <a:rPr lang="en" sz="900" u="none" cap="none" strike="noStrike">
                          <a:solidFill>
                            <a:srgbClr val="E8F0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id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CAF9"/>
                        </a:buClr>
                        <a:buSzPts val="900"/>
                        <a:buFont typeface="Courier New"/>
                        <a:buNone/>
                      </a:pPr>
                      <a:r>
                        <a:rPr lang="en" sz="900" u="none" cap="none" strike="noStrike">
                          <a:solidFill>
                            <a:srgbClr val="90CAF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A4AE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90A4A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PK, AUTO_INCREMENT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900"/>
                        <a:buFont typeface="Courier New"/>
                        <a:buNone/>
                      </a:pPr>
                      <a:r>
                        <a:rPr lang="en" sz="900" u="none" cap="none" strike="noStrike">
                          <a:solidFill>
                            <a:srgbClr val="E8F0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full_name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CAF9"/>
                        </a:buClr>
                        <a:buSzPts val="900"/>
                        <a:buFont typeface="Courier New"/>
                        <a:buNone/>
                      </a:pPr>
                      <a:r>
                        <a:rPr lang="en" sz="900" u="none" cap="none" strike="noStrike">
                          <a:solidFill>
                            <a:srgbClr val="90CAF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VARCHAR(255)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A4AE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90A4A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NULL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628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900"/>
                        <a:buFont typeface="Courier New"/>
                        <a:buNone/>
                      </a:pPr>
                      <a:r>
                        <a:rPr lang="en" sz="900" u="none" cap="none" strike="noStrike">
                          <a:solidFill>
                            <a:srgbClr val="E8F0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email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CAF9"/>
                        </a:buClr>
                        <a:buSzPts val="900"/>
                        <a:buFont typeface="Courier New"/>
                        <a:buNone/>
                      </a:pPr>
                      <a:r>
                        <a:rPr lang="en" sz="900" u="none" cap="none" strike="noStrike">
                          <a:solidFill>
                            <a:srgbClr val="90CAF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VARCHAR(255)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A4AE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90A4A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UNIQUE, NOT NULL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900"/>
                        <a:buFont typeface="Courier New"/>
                        <a:buNone/>
                      </a:pPr>
                      <a:r>
                        <a:rPr lang="en" sz="900" u="none" cap="none" strike="noStrike">
                          <a:solidFill>
                            <a:srgbClr val="E8F0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password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CAF9"/>
                        </a:buClr>
                        <a:buSzPts val="900"/>
                        <a:buFont typeface="Courier New"/>
                        <a:buNone/>
                      </a:pPr>
                      <a:r>
                        <a:rPr lang="en" sz="900" u="none" cap="none" strike="noStrike">
                          <a:solidFill>
                            <a:srgbClr val="90CAF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VARCHAR(255)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A4AE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90A4A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bcrypt hash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628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900"/>
                        <a:buFont typeface="Courier New"/>
                        <a:buNone/>
                      </a:pPr>
                      <a:r>
                        <a:rPr lang="en" sz="900" u="none" cap="none" strike="noStrike">
                          <a:solidFill>
                            <a:srgbClr val="E8F0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created_at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CAF9"/>
                        </a:buClr>
                        <a:buSzPts val="900"/>
                        <a:buFont typeface="Courier New"/>
                        <a:buNone/>
                      </a:pPr>
                      <a:r>
                        <a:rPr lang="en" sz="900" u="none" cap="none" strike="noStrike">
                          <a:solidFill>
                            <a:srgbClr val="90CAF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TIMESTAMP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A4AE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90A4A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DEFAULT NOW()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</a:tr>
            </a:tbl>
          </a:graphicData>
        </a:graphic>
      </p:graphicFrame>
      <p:sp>
        <p:nvSpPr>
          <p:cNvPr id="499" name="Google Shape;499;p27"/>
          <p:cNvSpPr/>
          <p:nvPr/>
        </p:nvSpPr>
        <p:spPr>
          <a:xfrm>
            <a:off x="4572000" y="960120"/>
            <a:ext cx="4297680" cy="39776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7"/>
          <p:cNvSpPr/>
          <p:nvPr/>
        </p:nvSpPr>
        <p:spPr>
          <a:xfrm>
            <a:off x="4572000" y="960120"/>
            <a:ext cx="4297680" cy="384048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4663440" y="960120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00E676"/>
                </a:solidFill>
                <a:latin typeface="Courier New"/>
                <a:ea typeface="Courier New"/>
                <a:cs typeface="Courier New"/>
                <a:sym typeface="Courier New"/>
              </a:rPr>
              <a:t>TABLE : missions (colonnes clés)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2" name="Google Shape;502;p27"/>
          <p:cNvGraphicFramePr/>
          <p:nvPr/>
        </p:nvGraphicFramePr>
        <p:xfrm>
          <a:off x="461772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{A42C5D2B-CEA8-4F25-8978-E04D9C23CDFA}</a:tableStyleId>
              </a:tblPr>
              <a:tblGrid>
                <a:gridCol w="1508750"/>
                <a:gridCol w="1143000"/>
                <a:gridCol w="1554475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853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C8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Colonne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E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853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C8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E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853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C8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Rôle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E35"/>
                    </a:solidFill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850"/>
                        <a:buFont typeface="Courier New"/>
                        <a:buNone/>
                      </a:pPr>
                      <a:r>
                        <a:rPr lang="en" sz="850" u="none" cap="none" strike="noStrike">
                          <a:solidFill>
                            <a:srgbClr val="E8F0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id</a:t>
                      </a:r>
                      <a:endParaRPr sz="8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CAF9"/>
                        </a:buClr>
                        <a:buSzPts val="850"/>
                        <a:buFont typeface="Courier New"/>
                        <a:buNone/>
                      </a:pPr>
                      <a:r>
                        <a:rPr lang="en" sz="850" u="none" cap="none" strike="noStrike">
                          <a:solidFill>
                            <a:srgbClr val="90CAF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VARCHAR(255)</a:t>
                      </a:r>
                      <a:endParaRPr sz="8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A4AE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90A4A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UUID client, PK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850"/>
                        <a:buFont typeface="Courier New"/>
                        <a:buNone/>
                      </a:pPr>
                      <a:r>
                        <a:rPr lang="en" sz="850" u="none" cap="none" strike="noStrike">
                          <a:solidFill>
                            <a:srgbClr val="E8F0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user_id</a:t>
                      </a:r>
                      <a:endParaRPr sz="8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CAF9"/>
                        </a:buClr>
                        <a:buSzPts val="850"/>
                        <a:buFont typeface="Courier New"/>
                        <a:buNone/>
                      </a:pPr>
                      <a:r>
                        <a:rPr lang="en" sz="850" u="none" cap="none" strike="noStrike">
                          <a:solidFill>
                            <a:srgbClr val="90CAF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endParaRPr sz="8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A4AE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90A4A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FK → users.id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628"/>
                    </a:solidFill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850"/>
                        <a:buFont typeface="Courier New"/>
                        <a:buNone/>
                      </a:pPr>
                      <a:r>
                        <a:rPr lang="en" sz="850" u="none" cap="none" strike="noStrike">
                          <a:solidFill>
                            <a:srgbClr val="E8F0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</a:t>
                      </a:r>
                      <a:endParaRPr sz="8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CAF9"/>
                        </a:buClr>
                        <a:buSzPts val="850"/>
                        <a:buFont typeface="Courier New"/>
                        <a:buNone/>
                      </a:pPr>
                      <a:r>
                        <a:rPr lang="en" sz="850" u="none" cap="none" strike="noStrike">
                          <a:solidFill>
                            <a:srgbClr val="90CAF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VARCHAR(255)</a:t>
                      </a:r>
                      <a:endParaRPr sz="8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A4AE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90A4A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 de la mission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850"/>
                        <a:buFont typeface="Courier New"/>
                        <a:buNone/>
                      </a:pPr>
                      <a:r>
                        <a:rPr lang="en" sz="850" u="none" cap="none" strike="noStrike">
                          <a:solidFill>
                            <a:srgbClr val="E8F0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status</a:t>
                      </a:r>
                      <a:endParaRPr sz="8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CAF9"/>
                        </a:buClr>
                        <a:buSzPts val="850"/>
                        <a:buFont typeface="Courier New"/>
                        <a:buNone/>
                      </a:pPr>
                      <a:r>
                        <a:rPr lang="en" sz="850" u="none" cap="none" strike="noStrike">
                          <a:solidFill>
                            <a:srgbClr val="90CAF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VARCHAR(50)</a:t>
                      </a:r>
                      <a:endParaRPr sz="8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A4AE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90A4A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Brouillon / Prêt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628"/>
                    </a:solidFill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850"/>
                        <a:buFont typeface="Courier New"/>
                        <a:buNone/>
                      </a:pPr>
                      <a:r>
                        <a:rPr lang="en" sz="850" u="none" cap="none" strike="noStrike">
                          <a:solidFill>
                            <a:srgbClr val="E8F0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estimated_time</a:t>
                      </a:r>
                      <a:endParaRPr sz="8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CAF9"/>
                        </a:buClr>
                        <a:buSzPts val="850"/>
                        <a:buFont typeface="Courier New"/>
                        <a:buNone/>
                      </a:pPr>
                      <a:r>
                        <a:rPr lang="en" sz="850" u="none" cap="none" strike="noStrike">
                          <a:solidFill>
                            <a:srgbClr val="90CAF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FLOAT</a:t>
                      </a:r>
                      <a:endParaRPr sz="8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A4AE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90A4A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Durée en secondes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850"/>
                        <a:buFont typeface="Courier New"/>
                        <a:buNone/>
                      </a:pPr>
                      <a:r>
                        <a:rPr lang="en" sz="850" u="none" cap="none" strike="noStrike">
                          <a:solidFill>
                            <a:srgbClr val="E8F0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area_size</a:t>
                      </a:r>
                      <a:endParaRPr sz="8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CAF9"/>
                        </a:buClr>
                        <a:buSzPts val="850"/>
                        <a:buFont typeface="Courier New"/>
                        <a:buNone/>
                      </a:pPr>
                      <a:r>
                        <a:rPr lang="en" sz="850" u="none" cap="none" strike="noStrike">
                          <a:solidFill>
                            <a:srgbClr val="90CAF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FLOAT</a:t>
                      </a:r>
                      <a:endParaRPr sz="8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A4AE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90A4A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Hectares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628"/>
                    </a:solidFill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850"/>
                        <a:buFont typeface="Courier New"/>
                        <a:buNone/>
                      </a:pPr>
                      <a:r>
                        <a:rPr lang="en" sz="850" u="none" cap="none" strike="noStrike">
                          <a:solidFill>
                            <a:srgbClr val="E8F0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altitude</a:t>
                      </a:r>
                      <a:endParaRPr sz="8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CAF9"/>
                        </a:buClr>
                        <a:buSzPts val="850"/>
                        <a:buFont typeface="Courier New"/>
                        <a:buNone/>
                      </a:pPr>
                      <a:r>
                        <a:rPr lang="en" sz="850" u="none" cap="none" strike="noStrike">
                          <a:solidFill>
                            <a:srgbClr val="90CAF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FLOAT</a:t>
                      </a:r>
                      <a:endParaRPr sz="8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A4AE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90A4A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Mètres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850"/>
                        <a:buFont typeface="Courier New"/>
                        <a:buNone/>
                      </a:pPr>
                      <a:r>
                        <a:rPr lang="en" sz="850" u="none" cap="none" strike="noStrike">
                          <a:solidFill>
                            <a:srgbClr val="E8F0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polygon_points</a:t>
                      </a:r>
                      <a:endParaRPr sz="8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CAF9"/>
                        </a:buClr>
                        <a:buSzPts val="850"/>
                        <a:buFont typeface="Courier New"/>
                        <a:buNone/>
                      </a:pPr>
                      <a:r>
                        <a:rPr lang="en" sz="850" u="none" cap="none" strike="noStrike">
                          <a:solidFill>
                            <a:srgbClr val="90CAF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TEXT/JSON</a:t>
                      </a:r>
                      <a:endParaRPr sz="8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A4AE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90A4A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Sommets GPS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628"/>
                    </a:solidFill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850"/>
                        <a:buFont typeface="Courier New"/>
                        <a:buNone/>
                      </a:pPr>
                      <a:r>
                        <a:rPr lang="en" sz="850" u="none" cap="none" strike="noStrike">
                          <a:solidFill>
                            <a:srgbClr val="E8F0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flight_path</a:t>
                      </a:r>
                      <a:endParaRPr sz="8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CAF9"/>
                        </a:buClr>
                        <a:buSzPts val="850"/>
                        <a:buFont typeface="Courier New"/>
                        <a:buNone/>
                      </a:pPr>
                      <a:r>
                        <a:rPr lang="en" sz="850" u="none" cap="none" strike="noStrike">
                          <a:solidFill>
                            <a:srgbClr val="90CAF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TEXT/JSON</a:t>
                      </a:r>
                      <a:endParaRPr sz="8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A4AE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90A4A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Waypoints GPS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>
              <a:alpha val="70196"/>
            </a:srgbClr>
          </a:solidFill>
          <a:ln cap="flat" cmpd="sng" w="12700">
            <a:solidFill>
              <a:srgbClr val="0D1F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8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10 · Algorithme de Trajectoire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8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Documentation Technique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8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· Algorithme de Génération de Trajectoire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8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Calcul 100% côté client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8"/>
          <p:cNvSpPr/>
          <p:nvPr/>
        </p:nvSpPr>
        <p:spPr>
          <a:xfrm>
            <a:off x="256032" y="1024128"/>
            <a:ext cx="4251960" cy="109728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8"/>
          <p:cNvSpPr/>
          <p:nvPr/>
        </p:nvSpPr>
        <p:spPr>
          <a:xfrm>
            <a:off x="393192" y="1344168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8"/>
          <p:cNvSpPr/>
          <p:nvPr/>
        </p:nvSpPr>
        <p:spPr>
          <a:xfrm>
            <a:off x="393192" y="13441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8"/>
          <p:cNvSpPr/>
          <p:nvPr/>
        </p:nvSpPr>
        <p:spPr>
          <a:xfrm>
            <a:off x="1005840" y="111556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Dessin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8"/>
          <p:cNvSpPr/>
          <p:nvPr/>
        </p:nvSpPr>
        <p:spPr>
          <a:xfrm>
            <a:off x="1005840" y="144475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L'opérateur place les sommets du polygone sur la carte satellite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8"/>
          <p:cNvSpPr/>
          <p:nvPr/>
        </p:nvSpPr>
        <p:spPr>
          <a:xfrm>
            <a:off x="4718304" y="1024128"/>
            <a:ext cx="4251960" cy="109728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8"/>
          <p:cNvSpPr/>
          <p:nvPr/>
        </p:nvSpPr>
        <p:spPr>
          <a:xfrm>
            <a:off x="4855464" y="1344168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8"/>
          <p:cNvSpPr/>
          <p:nvPr/>
        </p:nvSpPr>
        <p:spPr>
          <a:xfrm>
            <a:off x="4855464" y="13441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8"/>
          <p:cNvSpPr/>
          <p:nvPr/>
        </p:nvSpPr>
        <p:spPr>
          <a:xfrm>
            <a:off x="5468112" y="111556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Boîte englobante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8"/>
          <p:cNvSpPr/>
          <p:nvPr/>
        </p:nvSpPr>
        <p:spPr>
          <a:xfrm>
            <a:off x="5468112" y="144475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Calcul du rectangle minimal autour de tous les sommets GPS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8"/>
          <p:cNvSpPr/>
          <p:nvPr/>
        </p:nvSpPr>
        <p:spPr>
          <a:xfrm>
            <a:off x="256032" y="2258568"/>
            <a:ext cx="4251960" cy="109728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8"/>
          <p:cNvSpPr/>
          <p:nvPr/>
        </p:nvSpPr>
        <p:spPr>
          <a:xfrm>
            <a:off x="393192" y="2578608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8"/>
          <p:cNvSpPr/>
          <p:nvPr/>
        </p:nvSpPr>
        <p:spPr>
          <a:xfrm>
            <a:off x="393192" y="25786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8"/>
          <p:cNvSpPr/>
          <p:nvPr/>
        </p:nvSpPr>
        <p:spPr>
          <a:xfrm>
            <a:off x="1005840" y="235000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Lignes de scan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8"/>
          <p:cNvSpPr/>
          <p:nvPr/>
        </p:nvSpPr>
        <p:spPr>
          <a:xfrm>
            <a:off x="1005840" y="267919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Lignes espacées selon l'altitude, capteur et recouvrement latéral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8"/>
          <p:cNvSpPr/>
          <p:nvPr/>
        </p:nvSpPr>
        <p:spPr>
          <a:xfrm>
            <a:off x="4718304" y="2258568"/>
            <a:ext cx="4251960" cy="109728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8"/>
          <p:cNvSpPr/>
          <p:nvPr/>
        </p:nvSpPr>
        <p:spPr>
          <a:xfrm>
            <a:off x="4855464" y="2578608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8"/>
          <p:cNvSpPr/>
          <p:nvPr/>
        </p:nvSpPr>
        <p:spPr>
          <a:xfrm>
            <a:off x="4855464" y="25786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8"/>
          <p:cNvSpPr/>
          <p:nvPr/>
        </p:nvSpPr>
        <p:spPr>
          <a:xfrm>
            <a:off x="5468112" y="235000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Découpage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8"/>
          <p:cNvSpPr/>
          <p:nvPr/>
        </p:nvSpPr>
        <p:spPr>
          <a:xfrm>
            <a:off x="5468112" y="267919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Chaque ligne est intersectée avec le polygone (lancer de rayons)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8"/>
          <p:cNvSpPr/>
          <p:nvPr/>
        </p:nvSpPr>
        <p:spPr>
          <a:xfrm>
            <a:off x="256032" y="3493008"/>
            <a:ext cx="4251960" cy="109728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8"/>
          <p:cNvSpPr/>
          <p:nvPr/>
        </p:nvSpPr>
        <p:spPr>
          <a:xfrm>
            <a:off x="393192" y="3813048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8"/>
          <p:cNvSpPr/>
          <p:nvPr/>
        </p:nvSpPr>
        <p:spPr>
          <a:xfrm>
            <a:off x="393192" y="38130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8"/>
          <p:cNvSpPr/>
          <p:nvPr/>
        </p:nvSpPr>
        <p:spPr>
          <a:xfrm>
            <a:off x="1005840" y="358444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Waypoints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8"/>
          <p:cNvSpPr/>
          <p:nvPr/>
        </p:nvSpPr>
        <p:spPr>
          <a:xfrm>
            <a:off x="1005840" y="39136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Les extrémités des segments valides = points de passage du vol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8"/>
          <p:cNvSpPr/>
          <p:nvPr/>
        </p:nvSpPr>
        <p:spPr>
          <a:xfrm>
            <a:off x="4718304" y="3493008"/>
            <a:ext cx="4251960" cy="109728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8"/>
          <p:cNvSpPr/>
          <p:nvPr/>
        </p:nvSpPr>
        <p:spPr>
          <a:xfrm>
            <a:off x="4855464" y="3813048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B4332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8"/>
          <p:cNvSpPr/>
          <p:nvPr/>
        </p:nvSpPr>
        <p:spPr>
          <a:xfrm>
            <a:off x="4855464" y="38130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8"/>
          <p:cNvSpPr/>
          <p:nvPr/>
        </p:nvSpPr>
        <p:spPr>
          <a:xfrm>
            <a:off x="5468112" y="358444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Statistiques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8"/>
          <p:cNvSpPr/>
          <p:nvPr/>
        </p:nvSpPr>
        <p:spPr>
          <a:xfrm>
            <a:off x="5468112" y="391363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Distance Haversine · Durée = dist/vitesse · GSD = alt×capteur/focale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8"/>
          <p:cNvSpPr/>
          <p:nvPr/>
        </p:nvSpPr>
        <p:spPr>
          <a:xfrm>
            <a:off x="256032" y="4645152"/>
            <a:ext cx="8613648" cy="34747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8"/>
          <p:cNvSpPr/>
          <p:nvPr/>
        </p:nvSpPr>
        <p:spPr>
          <a:xfrm>
            <a:off x="411480" y="466344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Formule GSD 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8"/>
          <p:cNvSpPr/>
          <p:nvPr/>
        </p:nvSpPr>
        <p:spPr>
          <a:xfrm>
            <a:off x="1828800" y="4663440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ourier New"/>
                <a:ea typeface="Courier New"/>
                <a:cs typeface="Courier New"/>
                <a:sym typeface="Courier New"/>
              </a:rPr>
              <a:t>GSD (cm) = (Altitude × Largeur Capteur) ÷ (Focale × Largeur Image en pixels)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>
              <a:alpha val="70196"/>
            </a:srgbClr>
          </a:solidFill>
          <a:ln cap="flat" cmpd="sng" w="12700">
            <a:solidFill>
              <a:srgbClr val="0D1F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9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Sécurité &amp; Recommandations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9"/>
          <p:cNvSpPr/>
          <p:nvPr/>
        </p:nvSpPr>
        <p:spPr>
          <a:xfrm>
            <a:off x="228600" y="4937760"/>
            <a:ext cx="8686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Documentation Technique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9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Sécurité — Points d'Amélioration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9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Limitations connues et recommandations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9"/>
          <p:cNvSpPr/>
          <p:nvPr/>
        </p:nvSpPr>
        <p:spPr>
          <a:xfrm>
            <a:off x="256032" y="1005840"/>
            <a:ext cx="8631936" cy="57607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9"/>
          <p:cNvSpPr/>
          <p:nvPr/>
        </p:nvSpPr>
        <p:spPr>
          <a:xfrm>
            <a:off x="256032" y="1005840"/>
            <a:ext cx="777240" cy="576072"/>
          </a:xfrm>
          <a:prstGeom prst="rect">
            <a:avLst/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9"/>
          <p:cNvSpPr/>
          <p:nvPr/>
        </p:nvSpPr>
        <p:spPr>
          <a:xfrm>
            <a:off x="256032" y="1005840"/>
            <a:ext cx="77724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ÉLEVÉ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9"/>
          <p:cNvSpPr/>
          <p:nvPr/>
        </p:nvSpPr>
        <p:spPr>
          <a:xfrm>
            <a:off x="1115568" y="1078992"/>
            <a:ext cx="7680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 de JWT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9"/>
          <p:cNvSpPr/>
          <p:nvPr/>
        </p:nvSpPr>
        <p:spPr>
          <a:xfrm>
            <a:off x="1115568" y="1316736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user_id transmis en clair — implémenter l'auth par token JWT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9"/>
          <p:cNvSpPr/>
          <p:nvPr/>
        </p:nvSpPr>
        <p:spPr>
          <a:xfrm>
            <a:off x="256032" y="1664208"/>
            <a:ext cx="8631936" cy="57607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9"/>
          <p:cNvSpPr/>
          <p:nvPr/>
        </p:nvSpPr>
        <p:spPr>
          <a:xfrm>
            <a:off x="256032" y="1664208"/>
            <a:ext cx="777240" cy="576072"/>
          </a:xfrm>
          <a:prstGeom prst="rect">
            <a:avLst/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9"/>
          <p:cNvSpPr/>
          <p:nvPr/>
        </p:nvSpPr>
        <p:spPr>
          <a:xfrm>
            <a:off x="256032" y="1664208"/>
            <a:ext cx="77724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ÉLEVÉ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9"/>
          <p:cNvSpPr/>
          <p:nvPr/>
        </p:nvSpPr>
        <p:spPr>
          <a:xfrm>
            <a:off x="1115568" y="1737360"/>
            <a:ext cx="7680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Credentials en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9"/>
          <p:cNvSpPr/>
          <p:nvPr/>
        </p:nvSpPr>
        <p:spPr>
          <a:xfrm>
            <a:off x="1115568" y="1975104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Déplacer db_connect.php hors racine web vers variables d'env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9"/>
          <p:cNvSpPr/>
          <p:nvPr/>
        </p:nvSpPr>
        <p:spPr>
          <a:xfrm>
            <a:off x="256032" y="2322576"/>
            <a:ext cx="8631936" cy="57607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9"/>
          <p:cNvSpPr/>
          <p:nvPr/>
        </p:nvSpPr>
        <p:spPr>
          <a:xfrm>
            <a:off x="256032" y="2322576"/>
            <a:ext cx="777240" cy="576072"/>
          </a:xfrm>
          <a:prstGeom prst="rect">
            <a:avLst/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9"/>
          <p:cNvSpPr/>
          <p:nvPr/>
        </p:nvSpPr>
        <p:spPr>
          <a:xfrm>
            <a:off x="256032" y="2322576"/>
            <a:ext cx="77724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ÉLEVÉ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9"/>
          <p:cNvSpPr/>
          <p:nvPr/>
        </p:nvSpPr>
        <p:spPr>
          <a:xfrm>
            <a:off x="1115568" y="2395728"/>
            <a:ext cx="7680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HTTPS non forcé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9"/>
          <p:cNvSpPr/>
          <p:nvPr/>
        </p:nvSpPr>
        <p:spPr>
          <a:xfrm>
            <a:off x="1115568" y="2633472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Vérifier que tous les appels API passent uniquement en HTTPS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9"/>
          <p:cNvSpPr/>
          <p:nvPr/>
        </p:nvSpPr>
        <p:spPr>
          <a:xfrm>
            <a:off x="256032" y="2980944"/>
            <a:ext cx="8631936" cy="57607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9"/>
          <p:cNvSpPr/>
          <p:nvPr/>
        </p:nvSpPr>
        <p:spPr>
          <a:xfrm>
            <a:off x="256032" y="2980944"/>
            <a:ext cx="777240" cy="576072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9"/>
          <p:cNvSpPr/>
          <p:nvPr/>
        </p:nvSpPr>
        <p:spPr>
          <a:xfrm>
            <a:off x="256032" y="2980944"/>
            <a:ext cx="77724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MOYEN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9"/>
          <p:cNvSpPr/>
          <p:nvPr/>
        </p:nvSpPr>
        <p:spPr>
          <a:xfrm>
            <a:off x="1115568" y="3054096"/>
            <a:ext cx="7680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CORS wildcard (*)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9"/>
          <p:cNvSpPr/>
          <p:nvPr/>
        </p:nvSpPr>
        <p:spPr>
          <a:xfrm>
            <a:off x="1115568" y="3291840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Restreindre Access-Control-Allow-Origin aux origines connues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9"/>
          <p:cNvSpPr/>
          <p:nvPr/>
        </p:nvSpPr>
        <p:spPr>
          <a:xfrm>
            <a:off x="256032" y="3639312"/>
            <a:ext cx="8631936" cy="57607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9"/>
          <p:cNvSpPr/>
          <p:nvPr/>
        </p:nvSpPr>
        <p:spPr>
          <a:xfrm>
            <a:off x="256032" y="3639312"/>
            <a:ext cx="777240" cy="576072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9"/>
          <p:cNvSpPr/>
          <p:nvPr/>
        </p:nvSpPr>
        <p:spPr>
          <a:xfrm>
            <a:off x="256032" y="3639312"/>
            <a:ext cx="77724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MOYEN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9"/>
          <p:cNvSpPr/>
          <p:nvPr/>
        </p:nvSpPr>
        <p:spPr>
          <a:xfrm>
            <a:off x="1115568" y="3712464"/>
            <a:ext cx="7680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 de rate limiting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9"/>
          <p:cNvSpPr/>
          <p:nvPr/>
        </p:nvSpPr>
        <p:spPr>
          <a:xfrm>
            <a:off x="1115568" y="3950208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Ajouter une limite de tentatives de connexion (anti-bruteforce)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9"/>
          <p:cNvSpPr/>
          <p:nvPr/>
        </p:nvSpPr>
        <p:spPr>
          <a:xfrm>
            <a:off x="256032" y="4297680"/>
            <a:ext cx="8631936" cy="57607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9"/>
          <p:cNvSpPr/>
          <p:nvPr/>
        </p:nvSpPr>
        <p:spPr>
          <a:xfrm>
            <a:off x="256032" y="4297680"/>
            <a:ext cx="777240" cy="576072"/>
          </a:xfrm>
          <a:prstGeom prst="rect">
            <a:avLst/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9"/>
          <p:cNvSpPr/>
          <p:nvPr/>
        </p:nvSpPr>
        <p:spPr>
          <a:xfrm>
            <a:off x="256032" y="4297680"/>
            <a:ext cx="77724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9"/>
          <p:cNvSpPr/>
          <p:nvPr/>
        </p:nvSpPr>
        <p:spPr>
          <a:xfrm>
            <a:off x="1115568" y="4370832"/>
            <a:ext cx="7680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 longueur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9"/>
          <p:cNvSpPr/>
          <p:nvPr/>
        </p:nvSpPr>
        <p:spPr>
          <a:xfrm>
            <a:off x="1115568" y="4608576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Ajouter validation côté serveur des types et longueurs de champs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D1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0"/>
          <p:cNvSpPr/>
          <p:nvPr/>
        </p:nvSpPr>
        <p:spPr>
          <a:xfrm>
            <a:off x="320040" y="68580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ENISOLAR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0"/>
          <p:cNvSpPr/>
          <p:nvPr/>
        </p:nvSpPr>
        <p:spPr>
          <a:xfrm>
            <a:off x="320040" y="1536192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Documentation Technique v1.0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0"/>
          <p:cNvSpPr/>
          <p:nvPr/>
        </p:nvSpPr>
        <p:spPr>
          <a:xfrm>
            <a:off x="320040" y="2103120"/>
            <a:ext cx="3200400" cy="36576"/>
          </a:xfrm>
          <a:prstGeom prst="rect">
            <a:avLst/>
          </a:prstGeom>
          <a:solidFill>
            <a:srgbClr val="00C853">
              <a:alpha val="60000"/>
            </a:srgbClr>
          </a:solidFill>
          <a:ln cap="flat" cmpd="sng" w="12700">
            <a:solidFill>
              <a:srgbClr val="00C853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0"/>
          <p:cNvSpPr/>
          <p:nvPr/>
        </p:nvSpPr>
        <p:spPr>
          <a:xfrm>
            <a:off x="320040" y="228600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Récapitulatif des 10 sections couvertes 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0"/>
          <p:cNvSpPr/>
          <p:nvPr/>
        </p:nvSpPr>
        <p:spPr>
          <a:xfrm>
            <a:off x="338328" y="2679192"/>
            <a:ext cx="128016" cy="12801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0"/>
          <p:cNvSpPr/>
          <p:nvPr/>
        </p:nvSpPr>
        <p:spPr>
          <a:xfrm>
            <a:off x="566928" y="2651760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Introduction &amp; Architecture Système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0"/>
          <p:cNvSpPr/>
          <p:nvPr/>
        </p:nvSpPr>
        <p:spPr>
          <a:xfrm>
            <a:off x="338328" y="2912364"/>
            <a:ext cx="128016" cy="12801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0"/>
          <p:cNvSpPr/>
          <p:nvPr/>
        </p:nvSpPr>
        <p:spPr>
          <a:xfrm>
            <a:off x="566928" y="2884932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Authentification sécurisée (bcrypt + PDO)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0"/>
          <p:cNvSpPr/>
          <p:nvPr/>
        </p:nvSpPr>
        <p:spPr>
          <a:xfrm>
            <a:off x="338328" y="3145536"/>
            <a:ext cx="128016" cy="12801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0"/>
          <p:cNvSpPr/>
          <p:nvPr/>
        </p:nvSpPr>
        <p:spPr>
          <a:xfrm>
            <a:off x="566928" y="3118104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Planificateur de Carte &amp; Polygone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0"/>
          <p:cNvSpPr/>
          <p:nvPr/>
        </p:nvSpPr>
        <p:spPr>
          <a:xfrm>
            <a:off x="338328" y="3378708"/>
            <a:ext cx="128016" cy="12801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0"/>
          <p:cNvSpPr/>
          <p:nvPr/>
        </p:nvSpPr>
        <p:spPr>
          <a:xfrm>
            <a:off x="566928" y="3351276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Paramètres de Vol &amp; Caméra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0"/>
          <p:cNvSpPr/>
          <p:nvPr/>
        </p:nvSpPr>
        <p:spPr>
          <a:xfrm>
            <a:off x="338328" y="3611880"/>
            <a:ext cx="128016" cy="12801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0"/>
          <p:cNvSpPr/>
          <p:nvPr/>
        </p:nvSpPr>
        <p:spPr>
          <a:xfrm>
            <a:off x="566928" y="3584448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Gestion des Missions (CRUD + Cloud)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0"/>
          <p:cNvSpPr/>
          <p:nvPr/>
        </p:nvSpPr>
        <p:spPr>
          <a:xfrm>
            <a:off x="338328" y="3845052"/>
            <a:ext cx="128016" cy="12801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0"/>
          <p:cNvSpPr/>
          <p:nvPr/>
        </p:nvSpPr>
        <p:spPr>
          <a:xfrm>
            <a:off x="566928" y="3817620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Export CSV &amp; Liaison Drone 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0"/>
          <p:cNvSpPr/>
          <p:nvPr/>
        </p:nvSpPr>
        <p:spPr>
          <a:xfrm>
            <a:off x="338328" y="4078224"/>
            <a:ext cx="128016" cy="12801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0"/>
          <p:cNvSpPr/>
          <p:nvPr/>
        </p:nvSpPr>
        <p:spPr>
          <a:xfrm>
            <a:off x="566928" y="4050792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Profil &amp; Changement de Mot de Passe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0"/>
          <p:cNvSpPr/>
          <p:nvPr/>
        </p:nvSpPr>
        <p:spPr>
          <a:xfrm>
            <a:off x="338328" y="4311396"/>
            <a:ext cx="128016" cy="12801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0"/>
          <p:cNvSpPr/>
          <p:nvPr/>
        </p:nvSpPr>
        <p:spPr>
          <a:xfrm>
            <a:off x="566928" y="4283964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API REST (8 endpoints PHP)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0"/>
          <p:cNvSpPr/>
          <p:nvPr/>
        </p:nvSpPr>
        <p:spPr>
          <a:xfrm>
            <a:off x="338328" y="4544568"/>
            <a:ext cx="128016" cy="12801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0"/>
          <p:cNvSpPr/>
          <p:nvPr/>
        </p:nvSpPr>
        <p:spPr>
          <a:xfrm>
            <a:off x="566928" y="4517136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Schéma Base de Données (2 tables)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0"/>
          <p:cNvSpPr/>
          <p:nvPr/>
        </p:nvSpPr>
        <p:spPr>
          <a:xfrm>
            <a:off x="338328" y="4777740"/>
            <a:ext cx="128016" cy="12801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0"/>
          <p:cNvSpPr/>
          <p:nvPr/>
        </p:nvSpPr>
        <p:spPr>
          <a:xfrm>
            <a:off x="566928" y="4750308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Algorithme de Trajectoire + GSD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1" name="Google Shape;62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640080"/>
            <a:ext cx="3200400" cy="3200400"/>
          </a:xfrm>
          <a:prstGeom prst="rect">
            <a:avLst/>
          </a:prstGeom>
          <a:noFill/>
          <a:ln>
            <a:noFill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</p:pic>
      <p:sp>
        <p:nvSpPr>
          <p:cNvPr id="622" name="Google Shape;622;p30"/>
          <p:cNvSpPr/>
          <p:nvPr/>
        </p:nvSpPr>
        <p:spPr>
          <a:xfrm>
            <a:off x="5623560" y="777240"/>
            <a:ext cx="2926080" cy="2926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853">
              <a:alpha val="10196"/>
            </a:srgbClr>
          </a:solidFill>
          <a:ln cap="flat" cmpd="sng" w="12700">
            <a:solidFill>
              <a:srgbClr val="00C853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0"/>
          <p:cNvSpPr/>
          <p:nvPr/>
        </p:nvSpPr>
        <p:spPr>
          <a:xfrm>
            <a:off x="5257800" y="39319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"Planifiez. Volez. Inspectez."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0"/>
          <p:cNvSpPr/>
          <p:nvPr/>
        </p:nvSpPr>
        <p:spPr>
          <a:xfrm>
            <a:off x="5257800" y="4389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© 2026 ENISOLAR — Tous droits réservés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